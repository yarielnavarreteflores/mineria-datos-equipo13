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2" r:id="rId9"/>
    <p:sldId id="260" r:id="rId10"/>
    <p:sldId id="261" r:id="rId1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94660"/>
  </p:normalViewPr>
  <p:slideViewPr>
    <p:cSldViewPr snapToGrid="0">
      <p:cViewPr varScale="1">
        <p:scale>
          <a:sx n="84" d="100"/>
          <a:sy n="84" d="100"/>
        </p:scale>
        <p:origin x="42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156913-2AD5-4E53-8AD3-65EEEE6D6428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86A83-F50F-47EB-8CEF-7B3EF2880D1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7903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686A83-F50F-47EB-8CEF-7B3EF2880D1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336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0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98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037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79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451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80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55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787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3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6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882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755E9-9A6A-A6FC-21F6-E0490FEE15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68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18DE59-4651-107D-07AD-B7DCE547B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1" y="5445760"/>
            <a:ext cx="8027544" cy="1498600"/>
          </a:xfrm>
          <a:ln>
            <a:noFill/>
          </a:ln>
        </p:spPr>
        <p:txBody>
          <a:bodyPr anchor="ctr">
            <a:normAutofit fontScale="90000"/>
          </a:bodyPr>
          <a:lstStyle/>
          <a:p>
            <a:pPr>
              <a:defRPr sz="2500" b="1">
                <a:solidFill>
                  <a:srgbClr val="191919"/>
                </a:solidFill>
                <a:latin typeface="Arial"/>
              </a:defRPr>
            </a:pPr>
            <a:r>
              <a:rPr dirty="0"/>
              <a:t>INTELIGENCIA DE DEMANDA DE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principales </a:t>
            </a:r>
            <a:r>
              <a:rPr lang="en-US" dirty="0" err="1"/>
              <a:t>sistemas</a:t>
            </a:r>
            <a:r>
              <a:rPr lang="en-US" dirty="0"/>
              <a:t> de</a:t>
            </a:r>
            <a:r>
              <a:rPr dirty="0"/>
              <a:t> TRANSPORTE PÚBLICO DE LA CDMX</a:t>
            </a:r>
            <a:br>
              <a:rPr lang="en-US" dirty="0"/>
            </a:br>
            <a:endParaRPr dirty="0"/>
          </a:p>
          <a:p>
            <a:pPr>
              <a:defRPr sz="1300" b="0">
                <a:solidFill>
                  <a:srgbClr val="191919"/>
                </a:solidFill>
                <a:latin typeface="Arial"/>
              </a:defRPr>
            </a:pPr>
            <a:r>
              <a:rPr dirty="0" err="1"/>
              <a:t>Práctica</a:t>
            </a:r>
            <a:r>
              <a:rPr dirty="0"/>
              <a:t> 1 · </a:t>
            </a:r>
            <a:r>
              <a:rPr dirty="0" err="1"/>
              <a:t>Definición</a:t>
            </a:r>
            <a:r>
              <a:rPr dirty="0"/>
              <a:t> del </a:t>
            </a:r>
            <a:r>
              <a:rPr dirty="0" err="1"/>
              <a:t>proyecto</a:t>
            </a:r>
            <a:r>
              <a:rPr dirty="0"/>
              <a:t> semestral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3642E8-7EB5-4DEA-37B5-C481FE4C5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Autofit/>
          </a:bodyPr>
          <a:lstStyle/>
          <a:p>
            <a:pPr algn="r">
              <a:defRPr sz="1050">
                <a:solidFill>
                  <a:srgbClr val="191919"/>
                </a:solidFill>
                <a:latin typeface="Arial"/>
              </a:defRPr>
            </a:pPr>
            <a:r>
              <a:rPr sz="1050" dirty="0"/>
              <a:t>Yariel Navarrete</a:t>
            </a:r>
            <a:r>
              <a:rPr lang="en-US" sz="1050" dirty="0"/>
              <a:t> Flores</a:t>
            </a:r>
            <a:r>
              <a:rPr sz="1050" dirty="0"/>
              <a:t> · </a:t>
            </a:r>
            <a:r>
              <a:rPr sz="1050" dirty="0" err="1"/>
              <a:t>Coordinador</a:t>
            </a:r>
            <a:r>
              <a:rPr sz="1050" dirty="0"/>
              <a:t> / </a:t>
            </a:r>
            <a:r>
              <a:rPr sz="1050" dirty="0" err="1"/>
              <a:t>Analista</a:t>
            </a:r>
            <a:endParaRPr sz="1050" dirty="0"/>
          </a:p>
          <a:p>
            <a:pPr algn="r">
              <a:defRPr sz="1050">
                <a:solidFill>
                  <a:srgbClr val="191919"/>
                </a:solidFill>
                <a:latin typeface="Arial"/>
              </a:defRPr>
            </a:pPr>
            <a:r>
              <a:rPr sz="1050" dirty="0"/>
              <a:t>Eric Nava </a:t>
            </a:r>
            <a:r>
              <a:rPr lang="en-US" sz="1050" dirty="0"/>
              <a:t>Villar </a:t>
            </a:r>
            <a:r>
              <a:rPr sz="1050" dirty="0"/>
              <a:t>· Ing. de </a:t>
            </a:r>
            <a:r>
              <a:rPr sz="1050" dirty="0" err="1"/>
              <a:t>datos</a:t>
            </a:r>
            <a:r>
              <a:rPr sz="1050" dirty="0"/>
              <a:t> / </a:t>
            </a:r>
            <a:r>
              <a:rPr sz="1050" dirty="0" err="1"/>
              <a:t>Arquitecto</a:t>
            </a:r>
            <a:endParaRPr sz="1050" dirty="0"/>
          </a:p>
          <a:p>
            <a:pPr algn="r">
              <a:defRPr sz="1050">
                <a:solidFill>
                  <a:srgbClr val="191919"/>
                </a:solidFill>
                <a:latin typeface="Arial"/>
              </a:defRPr>
            </a:pPr>
            <a:r>
              <a:rPr sz="1050" dirty="0"/>
              <a:t>Edén Uribe</a:t>
            </a:r>
            <a:r>
              <a:rPr lang="en-US" sz="1050" dirty="0"/>
              <a:t> S</a:t>
            </a:r>
            <a:r>
              <a:rPr lang="es-MX" sz="1050" dirty="0" err="1"/>
              <a:t>ánchez</a:t>
            </a:r>
            <a:r>
              <a:rPr sz="1050" dirty="0"/>
              <a:t> · ML / </a:t>
            </a:r>
            <a:r>
              <a:rPr sz="1050" dirty="0" err="1"/>
              <a:t>Visualizador</a:t>
            </a:r>
            <a:endParaRPr sz="1050" dirty="0"/>
          </a:p>
          <a:p>
            <a:pPr algn="r">
              <a:defRPr sz="1100" b="1">
                <a:solidFill>
                  <a:srgbClr val="4D79A7"/>
                </a:solidFill>
                <a:latin typeface="Arial"/>
              </a:defRPr>
            </a:pPr>
            <a:r>
              <a:rPr sz="1050" dirty="0" err="1"/>
              <a:t>Minería</a:t>
            </a:r>
            <a:r>
              <a:rPr sz="1050" dirty="0"/>
              <a:t> de Datos · 202</a:t>
            </a:r>
            <a:r>
              <a:rPr lang="en-US" sz="1050" dirty="0"/>
              <a:t>6</a:t>
            </a:r>
            <a:r>
              <a:rPr sz="1050" dirty="0"/>
              <a:t>-</a:t>
            </a:r>
            <a:r>
              <a:rPr lang="en-US" sz="1050" dirty="0"/>
              <a:t>B</a:t>
            </a:r>
            <a:endParaRPr sz="1050" dirty="0"/>
          </a:p>
        </p:txBody>
      </p:sp>
      <p:pic>
        <p:nvPicPr>
          <p:cNvPr id="7" name="Picture 6" descr="Movilidad CDMX Old Versions | Aptoide">
            <a:extLst>
              <a:ext uri="{FF2B5EF4-FFF2-40B4-BE49-F238E27FC236}">
                <a16:creationId xmlns:a16="http://schemas.microsoft.com/office/drawing/2014/main" id="{0585A8FE-9A7E-B0B0-E282-429312F155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400"/>
            <a:ext cx="5435600" cy="5435600"/>
          </a:xfrm>
          <a:prstGeom prst="rect">
            <a:avLst/>
          </a:prstGeom>
        </p:spPr>
      </p:pic>
      <p:pic>
        <p:nvPicPr>
          <p:cNvPr id="10" name="Picture 9" descr="Movilidad Integrada">
            <a:extLst>
              <a:ext uri="{FF2B5EF4-FFF2-40B4-BE49-F238E27FC236}">
                <a16:creationId xmlns:a16="http://schemas.microsoft.com/office/drawing/2014/main" id="{9C01A90C-E32F-2379-AAFF-B7EB63E013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0212"/>
          <a:stretch>
            <a:fillRect/>
          </a:stretch>
        </p:blipFill>
        <p:spPr>
          <a:xfrm>
            <a:off x="1894839" y="1783777"/>
            <a:ext cx="1645921" cy="191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91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44AA96-805E-B6A7-72F8-6E2F23CE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solidFill>
                  <a:srgbClr val="191919"/>
                </a:solidFill>
                <a:latin typeface="Arial"/>
              </a:defRPr>
            </a:pPr>
            <a:r>
              <a:rPr lang="es-MX" sz="2800" b="1" dirty="0">
                <a:solidFill>
                  <a:srgbClr val="191919"/>
                </a:solidFill>
                <a:latin typeface="Arial"/>
              </a:rPr>
              <a:t>CRISP-DM 1 · COMPRENSIÓN DEL PROBLEMA</a:t>
            </a:r>
            <a:br>
              <a:rPr lang="es-MX" sz="2800" dirty="0">
                <a:solidFill>
                  <a:srgbClr val="191919"/>
                </a:solidFill>
                <a:latin typeface="Arial"/>
              </a:rPr>
            </a:br>
            <a:r>
              <a:rPr lang="es-MX" sz="1800" i="1" dirty="0">
                <a:solidFill>
                  <a:schemeClr val="bg1">
                    <a:lumMod val="50000"/>
                  </a:schemeClr>
                </a:solidFill>
                <a:latin typeface="Arial"/>
              </a:rPr>
              <a:t>Planteamiento, pregunta de minería e hipótesis</a:t>
            </a:r>
            <a:endParaRPr sz="18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4892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79A7"/>
                </a:solidFill>
                <a:latin typeface="Arial"/>
              </a:defRPr>
            </a:pPr>
            <a: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50749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1500" b="0">
                <a:solidFill>
                  <a:srgbClr val="191919"/>
                </a:solidFill>
                <a:latin typeface="Arial"/>
              </a:defRPr>
            </a:pPr>
            <a:r>
              <a:rPr dirty="0"/>
              <a:t>Los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afluencia</a:t>
            </a:r>
            <a:r>
              <a:rPr dirty="0"/>
              <a:t> se publican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 con </a:t>
            </a:r>
            <a:r>
              <a:rPr dirty="0" err="1"/>
              <a:t>periodos</a:t>
            </a:r>
            <a:r>
              <a:rPr dirty="0"/>
              <a:t>, </a:t>
            </a:r>
            <a:r>
              <a:rPr dirty="0" err="1"/>
              <a:t>estructuras</a:t>
            </a:r>
            <a:r>
              <a:rPr dirty="0"/>
              <a:t> y </a:t>
            </a:r>
            <a:r>
              <a:rPr dirty="0" err="1"/>
              <a:t>granularidades</a:t>
            </a:r>
            <a:r>
              <a:rPr dirty="0"/>
              <a:t> </a:t>
            </a:r>
            <a:r>
              <a:rPr dirty="0" err="1"/>
              <a:t>distintas</a:t>
            </a:r>
            <a:r>
              <a:rPr dirty="0"/>
              <a:t>. Esto </a:t>
            </a:r>
            <a:r>
              <a:rPr dirty="0" err="1"/>
              <a:t>dificulta</a:t>
            </a:r>
            <a:r>
              <a:rPr dirty="0"/>
              <a:t>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visión</a:t>
            </a:r>
            <a:r>
              <a:rPr dirty="0"/>
              <a:t> </a:t>
            </a:r>
            <a:r>
              <a:rPr dirty="0" err="1"/>
              <a:t>homogénea</a:t>
            </a:r>
            <a:r>
              <a:rPr dirty="0"/>
              <a:t> de la </a:t>
            </a:r>
            <a:r>
              <a:rPr dirty="0" err="1"/>
              <a:t>demanda</a:t>
            </a:r>
            <a:r>
              <a:rPr dirty="0"/>
              <a:t> y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entre </a:t>
            </a:r>
            <a:r>
              <a:rPr dirty="0" err="1"/>
              <a:t>sistemas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057400"/>
            <a:ext cx="5074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79A7"/>
                </a:solidFill>
                <a:latin typeface="Arial"/>
              </a:defRPr>
            </a:pPr>
            <a:r>
              <a:t>Pregunta de minería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423160"/>
            <a:ext cx="5074920" cy="7848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>
              <a:defRPr sz="1500" b="0">
                <a:solidFill>
                  <a:srgbClr val="191919"/>
                </a:solidFill>
                <a:latin typeface="Arial"/>
              </a:defRPr>
            </a:pPr>
            <a:r>
              <a:rPr dirty="0"/>
              <a:t>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</a:t>
            </a:r>
            <a:r>
              <a:rPr dirty="0" err="1"/>
              <a:t>temporales</a:t>
            </a:r>
            <a:r>
              <a:rPr dirty="0"/>
              <a:t> y </a:t>
            </a:r>
            <a:r>
              <a:rPr dirty="0" err="1"/>
              <a:t>operativos</a:t>
            </a:r>
            <a:r>
              <a:rPr dirty="0"/>
              <a:t> </a:t>
            </a:r>
            <a:r>
              <a:rPr dirty="0" err="1"/>
              <a:t>caracterizan</a:t>
            </a:r>
            <a:r>
              <a:rPr dirty="0"/>
              <a:t> la </a:t>
            </a:r>
            <a:r>
              <a:rPr dirty="0" err="1"/>
              <a:t>demanda</a:t>
            </a:r>
            <a:r>
              <a:rPr dirty="0"/>
              <a:t> y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medida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utilizarse</a:t>
            </a:r>
            <a:r>
              <a:rPr dirty="0"/>
              <a:t> para </a:t>
            </a:r>
            <a:r>
              <a:rPr dirty="0" err="1"/>
              <a:t>clasificar</a:t>
            </a:r>
            <a:r>
              <a:rPr dirty="0"/>
              <a:t> o </a:t>
            </a:r>
            <a:r>
              <a:rPr dirty="0" err="1"/>
              <a:t>estimar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 de </a:t>
            </a:r>
            <a:r>
              <a:rPr dirty="0" err="1"/>
              <a:t>afluencia</a:t>
            </a:r>
            <a:r>
              <a:rPr dirty="0"/>
              <a:t>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51960"/>
            <a:ext cx="10332720" cy="914400"/>
          </a:xfrm>
          <a:prstGeom prst="roundRect">
            <a:avLst/>
          </a:prstGeom>
          <a:solidFill>
            <a:srgbClr val="F3F6F8"/>
          </a:solidFill>
          <a:ln>
            <a:solidFill>
              <a:srgbClr val="DA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407408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09691"/>
                </a:solidFill>
                <a:latin typeface="Arial"/>
              </a:defRPr>
            </a:pPr>
            <a:r>
              <a:t>Hipótesis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4315968"/>
            <a:ext cx="8915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191919"/>
                </a:solidFill>
                <a:latin typeface="Arial"/>
              </a:defRPr>
            </a:pPr>
            <a:r>
              <a:rPr dirty="0"/>
              <a:t>La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</a:t>
            </a:r>
            <a:r>
              <a:rPr dirty="0" err="1"/>
              <a:t>diferenciables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sistema</a:t>
            </a:r>
            <a:r>
              <a:rPr dirty="0"/>
              <a:t>, </a:t>
            </a:r>
            <a:r>
              <a:rPr dirty="0" err="1"/>
              <a:t>línea</a:t>
            </a:r>
            <a:r>
              <a:rPr dirty="0"/>
              <a:t>, día, </a:t>
            </a:r>
            <a:r>
              <a:rPr dirty="0" err="1"/>
              <a:t>mes</a:t>
            </a:r>
            <a:r>
              <a:rPr dirty="0"/>
              <a:t> y </a:t>
            </a:r>
            <a:r>
              <a:rPr dirty="0" err="1"/>
              <a:t>periodo</a:t>
            </a:r>
            <a:r>
              <a:rPr dirty="0"/>
              <a:t> del </a:t>
            </a:r>
            <a:r>
              <a:rPr dirty="0" err="1"/>
              <a:t>año</a:t>
            </a:r>
            <a:r>
              <a:rPr dirty="0"/>
              <a:t>; </a:t>
            </a:r>
            <a:r>
              <a:rPr dirty="0" err="1"/>
              <a:t>esos</a:t>
            </a:r>
            <a:r>
              <a:rPr dirty="0"/>
              <a:t> </a:t>
            </a:r>
            <a:r>
              <a:rPr dirty="0" err="1"/>
              <a:t>perfiles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sustentar</a:t>
            </a:r>
            <a:r>
              <a:rPr dirty="0"/>
              <a:t> </a:t>
            </a:r>
            <a:r>
              <a:rPr dirty="0" err="1"/>
              <a:t>modelos</a:t>
            </a:r>
            <a:r>
              <a:rPr dirty="0"/>
              <a:t> posteriores de </a:t>
            </a:r>
            <a:r>
              <a:rPr dirty="0" err="1"/>
              <a:t>clasificación</a:t>
            </a:r>
            <a:r>
              <a:rPr dirty="0"/>
              <a:t> o </a:t>
            </a:r>
            <a:r>
              <a:rPr dirty="0" err="1"/>
              <a:t>estimación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38360" y="6254496"/>
            <a:ext cx="16916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5F5F"/>
                </a:solidFill>
                <a:latin typeface="Arial"/>
              </a:defRPr>
            </a:pPr>
            <a:r>
              <a:rPr dirty="0" err="1"/>
              <a:t>Minería</a:t>
            </a:r>
            <a:r>
              <a:rPr dirty="0"/>
              <a:t> de Datos · 202</a:t>
            </a:r>
            <a:r>
              <a:rPr lang="en-US" dirty="0"/>
              <a:t>6</a:t>
            </a:r>
            <a:r>
              <a:rPr dirty="0"/>
              <a:t>-</a:t>
            </a:r>
            <a:r>
              <a:rPr lang="en-US" dirty="0"/>
              <a:t>B</a:t>
            </a:r>
            <a:r>
              <a:rPr dirty="0"/>
              <a:t> · 2</a:t>
            </a:r>
          </a:p>
        </p:txBody>
      </p:sp>
    </p:spTree>
    <p:extLst>
      <p:ext uri="{BB962C8B-B14F-4D97-AF65-F5344CB8AC3E}">
        <p14:creationId xmlns:p14="http://schemas.microsoft.com/office/powerpoint/2010/main" val="323323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FCAF2-529A-9C3A-0CD4-AA025181B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solidFill>
                  <a:srgbClr val="191919"/>
                </a:solidFill>
                <a:latin typeface="Arial"/>
              </a:defRPr>
            </a:pPr>
            <a:r>
              <a:rPr b="1" dirty="0"/>
              <a:t>OBJETIVOS Y ALCANCE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79A7"/>
                </a:solidFill>
                <a:latin typeface="Arial"/>
              </a:defRPr>
            </a:pPr>
            <a:r>
              <a:t>Objetivo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95728"/>
            <a:ext cx="502920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/>
              </a:defRPr>
            </a:pPr>
            <a:r>
              <a:rPr dirty="0" err="1"/>
              <a:t>Analizar</a:t>
            </a:r>
            <a:r>
              <a:rPr dirty="0"/>
              <a:t> y </a:t>
            </a:r>
            <a:r>
              <a:rPr dirty="0" err="1"/>
              <a:t>m</a:t>
            </a:r>
            <a:r>
              <a:rPr lang="en-US" dirty="0" err="1"/>
              <a:t>o</a:t>
            </a:r>
            <a:r>
              <a:rPr dirty="0" err="1"/>
              <a:t>delar</a:t>
            </a:r>
            <a:r>
              <a:rPr dirty="0"/>
              <a:t> </a:t>
            </a:r>
            <a:r>
              <a:rPr dirty="0" err="1"/>
              <a:t>patrones</a:t>
            </a:r>
            <a:r>
              <a:rPr dirty="0"/>
              <a:t> </a:t>
            </a:r>
            <a:r>
              <a:rPr dirty="0" err="1"/>
              <a:t>históricos</a:t>
            </a:r>
            <a:r>
              <a:rPr dirty="0"/>
              <a:t> de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minería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, </a:t>
            </a:r>
            <a:r>
              <a:rPr dirty="0" err="1"/>
              <a:t>integrando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para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comportamientos</a:t>
            </a:r>
            <a:r>
              <a:rPr dirty="0"/>
              <a:t> </a:t>
            </a:r>
            <a:r>
              <a:rPr dirty="0" err="1"/>
              <a:t>temporales</a:t>
            </a:r>
            <a:r>
              <a:rPr dirty="0"/>
              <a:t> y </a:t>
            </a:r>
            <a:r>
              <a:rPr dirty="0" err="1"/>
              <a:t>operativos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0574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79A7"/>
                </a:solidFill>
                <a:latin typeface="Arial"/>
              </a:defRPr>
            </a:pPr>
            <a:r>
              <a:t>Objetivos específicos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395728"/>
            <a:ext cx="51206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Diseñar un ETL reproducible y una base histórica.</a:t>
            </a:r>
          </a:p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Analizar evolución, distribución y atipicidad.</a:t>
            </a:r>
          </a:p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Preparar OLAP y variables para modelado.</a:t>
            </a:r>
          </a:p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Evaluar modelos e interpretabilidad en fases posteriores.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60520"/>
            <a:ext cx="21945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09691"/>
                </a:solidFill>
                <a:latin typeface="Arial"/>
              </a:defRPr>
            </a:pPr>
            <a:r>
              <a:t>Alcance de Práctica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98848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191919"/>
                </a:solidFill>
                <a:latin typeface="Arial"/>
              </a:defRPr>
            </a:pPr>
            <a:r>
              <a:rPr dirty="0"/>
              <a:t>Metro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iteración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. La </a:t>
            </a:r>
            <a:r>
              <a:rPr dirty="0" err="1"/>
              <a:t>integración</a:t>
            </a:r>
            <a:r>
              <a:rPr dirty="0"/>
              <a:t> de </a:t>
            </a:r>
            <a:r>
              <a:rPr dirty="0" err="1"/>
              <a:t>Metrobús</a:t>
            </a:r>
            <a:r>
              <a:rPr dirty="0"/>
              <a:t>, RTP, Cablebús, </a:t>
            </a:r>
            <a:r>
              <a:rPr dirty="0" err="1"/>
              <a:t>Trolebús</a:t>
            </a:r>
            <a:r>
              <a:rPr dirty="0"/>
              <a:t> y Tren Ligero </a:t>
            </a:r>
            <a:r>
              <a:rPr dirty="0" err="1"/>
              <a:t>queda</a:t>
            </a:r>
            <a:r>
              <a:rPr dirty="0"/>
              <a:t> para </a:t>
            </a:r>
            <a:r>
              <a:rPr dirty="0" err="1"/>
              <a:t>iteraciones</a:t>
            </a:r>
            <a:r>
              <a:rPr dirty="0"/>
              <a:t> posteriores del </a:t>
            </a:r>
            <a:r>
              <a:rPr dirty="0" err="1"/>
              <a:t>proyecto</a:t>
            </a:r>
            <a:r>
              <a:rPr dirty="0"/>
              <a:t> semestral.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6254496"/>
            <a:ext cx="16916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5F5F"/>
                </a:solidFill>
                <a:latin typeface="Arial"/>
              </a:defRPr>
            </a:pPr>
            <a:r>
              <a:rPr dirty="0" err="1"/>
              <a:t>Minería</a:t>
            </a:r>
            <a:r>
              <a:rPr dirty="0"/>
              <a:t> de Datos · </a:t>
            </a:r>
            <a:r>
              <a:rPr lang="en-US" dirty="0"/>
              <a:t>2026-B</a:t>
            </a:r>
            <a:r>
              <a:rPr dirty="0"/>
              <a:t> · 3</a:t>
            </a:r>
          </a:p>
        </p:txBody>
      </p:sp>
    </p:spTree>
    <p:extLst>
      <p:ext uri="{BB962C8B-B14F-4D97-AF65-F5344CB8AC3E}">
        <p14:creationId xmlns:p14="http://schemas.microsoft.com/office/powerpoint/2010/main" val="3481783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05FE9-8E8A-78C7-7CD5-B0CBBC372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solidFill>
                  <a:srgbClr val="191919"/>
                </a:solidFill>
                <a:latin typeface="Arial"/>
              </a:defRPr>
            </a:pPr>
            <a:r>
              <a:rPr lang="es-MX" sz="2800" b="1" dirty="0">
                <a:solidFill>
                  <a:srgbClr val="191919"/>
                </a:solidFill>
                <a:latin typeface="Arial"/>
              </a:rPr>
              <a:t>CRISP-DM 2 · COMPRENSIÓN DE LOS DATOS</a:t>
            </a:r>
            <a:endParaRPr b="1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2057400"/>
            <a:ext cx="3063240" cy="1325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2057400"/>
            <a:ext cx="82296" cy="1325880"/>
          </a:xfrm>
          <a:prstGeom prst="rect">
            <a:avLst/>
          </a:prstGeom>
          <a:solidFill>
            <a:srgbClr val="4D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075688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5F5F"/>
                </a:solidFill>
                <a:latin typeface="Arial"/>
              </a:defRPr>
            </a:pPr>
            <a:r>
              <a:rPr dirty="0"/>
              <a:t>METRO SIMPLE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" y="2276856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Arial"/>
              </a:defRPr>
            </a:pPr>
            <a:r>
              <a:rPr dirty="0"/>
              <a:t>1,180,920 </a:t>
            </a:r>
            <a:r>
              <a:rPr dirty="0" err="1"/>
              <a:t>registros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42237" y="2726019"/>
            <a:ext cx="2159509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rPr lang="en-US" dirty="0"/>
              <a:t>Rango: </a:t>
            </a:r>
            <a:r>
              <a:rPr dirty="0"/>
              <a:t>2010-01-01 → 2026-07-31 </a:t>
            </a:r>
            <a:endParaRPr lang="en-US" dirty="0"/>
          </a:p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rPr lang="en-US" dirty="0"/>
              <a:t>Temporal: día</a:t>
            </a:r>
          </a:p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rPr lang="es-MX" dirty="0"/>
              <a:t>Unidad: </a:t>
            </a:r>
            <a:r>
              <a:rPr dirty="0" err="1"/>
              <a:t>fecha</a:t>
            </a:r>
            <a:r>
              <a:rPr dirty="0"/>
              <a:t>–</a:t>
            </a:r>
            <a:r>
              <a:rPr dirty="0" err="1"/>
              <a:t>línea</a:t>
            </a:r>
            <a:r>
              <a:rPr dirty="0"/>
              <a:t>–</a:t>
            </a:r>
            <a:r>
              <a:rPr dirty="0" err="1"/>
              <a:t>estación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3977639" y="2057400"/>
            <a:ext cx="3063240" cy="1325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77639" y="2057400"/>
            <a:ext cx="82296" cy="1325880"/>
          </a:xfrm>
          <a:prstGeom prst="rect">
            <a:avLst/>
          </a:prstGeom>
          <a:solidFill>
            <a:srgbClr val="2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2075688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5F5F"/>
                </a:solidFill>
                <a:latin typeface="Arial"/>
              </a:defRPr>
            </a:pPr>
            <a:r>
              <a:rPr dirty="0"/>
              <a:t>METRO DESGLOSADA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7659" y="2258568"/>
            <a:ext cx="27432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Arial"/>
              </a:defRPr>
            </a:pPr>
            <a:r>
              <a:rPr dirty="0"/>
              <a:t>1,192,230 </a:t>
            </a:r>
            <a:r>
              <a:rPr dirty="0" err="1"/>
              <a:t>registros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4334255" y="2730591"/>
            <a:ext cx="2478023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rPr lang="en-US" dirty="0"/>
              <a:t>Rango: </a:t>
            </a:r>
            <a:r>
              <a:rPr dirty="0"/>
              <a:t>2021-01-01 → 2026-07-31</a:t>
            </a:r>
            <a:endParaRPr lang="en-US" dirty="0"/>
          </a:p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rPr lang="es-MX" dirty="0"/>
              <a:t>Temporal: día</a:t>
            </a:r>
            <a:endParaRPr lang="en-US" dirty="0"/>
          </a:p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rPr lang="en-US" dirty="0"/>
              <a:t>Unidad:</a:t>
            </a:r>
            <a:r>
              <a:rPr dirty="0"/>
              <a:t> </a:t>
            </a:r>
            <a:r>
              <a:rPr lang="en-US" dirty="0" err="1"/>
              <a:t>fecha-línea-estacion-</a:t>
            </a:r>
            <a:r>
              <a:rPr dirty="0" err="1"/>
              <a:t>tipo_pago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223760" y="2057400"/>
            <a:ext cx="3108960" cy="132588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23760" y="2057400"/>
            <a:ext cx="82296" cy="1325880"/>
          </a:xfrm>
          <a:prstGeom prst="rect">
            <a:avLst/>
          </a:prstGeom>
          <a:solidFill>
            <a:srgbClr val="3A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24928" y="2203704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5F5F"/>
                </a:solidFill>
                <a:latin typeface="Arial"/>
              </a:defRPr>
            </a:pPr>
            <a:r>
              <a:t>VOLUMEN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478024"/>
            <a:ext cx="2788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91919"/>
                </a:solidFill>
                <a:latin typeface="Arial"/>
              </a:defRPr>
            </a:pPr>
            <a:r>
              <a:t>Cumplen la guía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8" y="2980944"/>
            <a:ext cx="2788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5F5F5F"/>
                </a:solidFill>
                <a:latin typeface="Arial"/>
              </a:defRPr>
            </a:pPr>
            <a:r>
              <a:t>99,999 &lt; n &lt; 4,000,000 ·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20540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79A7"/>
                </a:solidFill>
                <a:latin typeface="Arial"/>
              </a:defRPr>
            </a:pPr>
            <a:r>
              <a:t>Flujo reproducible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7774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91919"/>
                </a:solidFill>
                <a:latin typeface="Arial"/>
              </a:defRPr>
            </a:pPr>
            <a:r>
              <a:t>Portal CDMX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221992" y="4960620"/>
            <a:ext cx="219455" cy="201167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514600" y="4777740"/>
            <a:ext cx="16459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91919"/>
                </a:solidFill>
                <a:latin typeface="Arial"/>
              </a:defRPr>
            </a:pPr>
            <a:r>
              <a:t>RAW / PostgreSQL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233672" y="4960620"/>
            <a:ext cx="310895" cy="201167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617720" y="477774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91919"/>
                </a:solidFill>
                <a:latin typeface="Arial"/>
              </a:defRPr>
            </a:pPr>
            <a:r>
              <a:t>Auditoría SQL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108192" y="4960620"/>
            <a:ext cx="356616" cy="201167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37960" y="477774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91919"/>
                </a:solidFill>
                <a:latin typeface="Arial"/>
              </a:defRPr>
            </a:pPr>
            <a:r>
              <a:t>CLEAN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028432" y="4960620"/>
            <a:ext cx="0" cy="201167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01000" y="477774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91919"/>
                </a:solidFill>
                <a:latin typeface="Arial"/>
              </a:defRPr>
            </a:pPr>
            <a:r>
              <a:t>Tableau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491472" y="4960620"/>
            <a:ext cx="0" cy="201167"/>
          </a:xfrm>
          <a:prstGeom prst="rightArrow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464040" y="4777740"/>
            <a:ext cx="1417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D79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91919"/>
                </a:solidFill>
                <a:latin typeface="Arial"/>
              </a:defRPr>
            </a:pPr>
            <a:r>
              <a:t>OLAP / ML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9214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/>
              </a:defRPr>
            </a:pPr>
            <a:r>
              <a:rPr dirty="0"/>
              <a:t>RAW se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intacto</a:t>
            </a:r>
            <a:r>
              <a:rPr dirty="0"/>
              <a:t>; las </a:t>
            </a:r>
            <a:r>
              <a:rPr dirty="0" err="1"/>
              <a:t>transformaciones</a:t>
            </a:r>
            <a:r>
              <a:rPr dirty="0"/>
              <a:t> se </a:t>
            </a:r>
            <a:r>
              <a:rPr dirty="0" err="1"/>
              <a:t>documentan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SQL y las </a:t>
            </a:r>
            <a:r>
              <a:rPr dirty="0" err="1"/>
              <a:t>visualizaciones</a:t>
            </a:r>
            <a:r>
              <a:rPr dirty="0"/>
              <a:t> se </a:t>
            </a:r>
            <a:r>
              <a:rPr dirty="0" err="1"/>
              <a:t>construyen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CLEAN.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03308" y="6229604"/>
            <a:ext cx="16916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5F5F"/>
                </a:solidFill>
                <a:latin typeface="Arial"/>
              </a:defRPr>
            </a:pPr>
            <a:r>
              <a:rPr dirty="0" err="1"/>
              <a:t>Minería</a:t>
            </a:r>
            <a:r>
              <a:rPr dirty="0"/>
              <a:t> de Datos · </a:t>
            </a:r>
            <a:r>
              <a:rPr lang="en-US" dirty="0"/>
              <a:t>2026-B</a:t>
            </a:r>
            <a:r>
              <a:rPr dirty="0"/>
              <a:t> · 4</a:t>
            </a:r>
          </a:p>
        </p:txBody>
      </p:sp>
      <p:sp>
        <p:nvSpPr>
          <p:cNvPr id="33" name="Rounded Rectangle 3">
            <a:extLst>
              <a:ext uri="{FF2B5EF4-FFF2-40B4-BE49-F238E27FC236}">
                <a16:creationId xmlns:a16="http://schemas.microsoft.com/office/drawing/2014/main" id="{11232A8D-DE55-4F52-31C2-865F40C3EF28}"/>
              </a:ext>
            </a:extLst>
          </p:cNvPr>
          <p:cNvSpPr/>
          <p:nvPr/>
        </p:nvSpPr>
        <p:spPr>
          <a:xfrm>
            <a:off x="770634" y="3630169"/>
            <a:ext cx="9754616" cy="566928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934616-3FDE-2CFA-C6BB-3CF6D784106B}"/>
              </a:ext>
            </a:extLst>
          </p:cNvPr>
          <p:cNvSpPr/>
          <p:nvPr/>
        </p:nvSpPr>
        <p:spPr>
          <a:xfrm>
            <a:off x="731520" y="3630169"/>
            <a:ext cx="82296" cy="56692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7CC58B-387C-9B1C-E7EF-1E9F855CBE5E}"/>
              </a:ext>
            </a:extLst>
          </p:cNvPr>
          <p:cNvSpPr txBox="1"/>
          <p:nvPr/>
        </p:nvSpPr>
        <p:spPr>
          <a:xfrm>
            <a:off x="932688" y="3598164"/>
            <a:ext cx="27432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F5F5F"/>
                </a:solidFill>
                <a:latin typeface="Arial"/>
              </a:defRPr>
            </a:pPr>
            <a:r>
              <a:rPr lang="en-US" dirty="0"/>
              <a:t>DIMENSI</a:t>
            </a:r>
            <a:r>
              <a:rPr lang="es-MX" dirty="0"/>
              <a:t>ÓN</a:t>
            </a:r>
            <a:r>
              <a:rPr lang="en-US" dirty="0"/>
              <a:t> ESPACIAL</a:t>
            </a:r>
            <a:endParaRPr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5FC59EC-A2C2-2460-CE01-1A200A9CA7B9}"/>
              </a:ext>
            </a:extLst>
          </p:cNvPr>
          <p:cNvSpPr txBox="1"/>
          <p:nvPr/>
        </p:nvSpPr>
        <p:spPr>
          <a:xfrm>
            <a:off x="932688" y="3730752"/>
            <a:ext cx="983691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1">
                <a:solidFill>
                  <a:srgbClr val="191919"/>
                </a:solidFill>
                <a:latin typeface="Arial"/>
              </a:defRPr>
            </a:pPr>
            <a:r>
              <a:rPr lang="en-US" sz="1600" dirty="0"/>
              <a:t>Estaci</a:t>
            </a:r>
            <a:r>
              <a:rPr lang="es-MX" sz="1600" dirty="0"/>
              <a:t>ón + línea </a:t>
            </a:r>
            <a:r>
              <a:rPr lang="es-MX" sz="2200" b="1" dirty="0">
                <a:solidFill>
                  <a:srgbClr val="191919"/>
                </a:solidFill>
                <a:latin typeface="Arial"/>
              </a:rPr>
              <a:t>→ </a:t>
            </a:r>
            <a:r>
              <a:rPr lang="es-MX" sz="2000" b="1" dirty="0">
                <a:solidFill>
                  <a:srgbClr val="191919"/>
                </a:solidFill>
                <a:latin typeface="Arial"/>
              </a:rPr>
              <a:t>permite vinculación posterior con catálogo geográfico oficial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6738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81E68-C4DA-8149-AF0A-747001285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solidFill>
                  <a:srgbClr val="191919"/>
                </a:solidFill>
                <a:latin typeface="Arial"/>
              </a:defRPr>
            </a:pPr>
            <a:r>
              <a:t>CALIDAD Y PREPROCESAMIENTO</a:t>
            </a:r>
          </a:p>
        </p:txBody>
      </p:sp>
      <p:pic>
        <p:nvPicPr>
          <p:cNvPr id="4" name="Picture 3" descr="p13_img1_xref72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5623560" cy="954188"/>
          </a:xfrm>
          <a:prstGeom prst="rect">
            <a:avLst/>
          </a:prstGeom>
        </p:spPr>
      </p:pic>
      <p:pic>
        <p:nvPicPr>
          <p:cNvPr id="5" name="Picture 4" descr="p13_img2_xref72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88360"/>
            <a:ext cx="5715000" cy="117169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2057400"/>
            <a:ext cx="2011680" cy="98755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0" y="2057400"/>
            <a:ext cx="82296" cy="987552"/>
          </a:xfrm>
          <a:prstGeom prst="rect">
            <a:avLst/>
          </a:prstGeom>
          <a:solidFill>
            <a:srgbClr val="3A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84848" y="2176272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t>NULOS / DUPLICADOS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2441448"/>
            <a:ext cx="1691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0 /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77063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F5F5F"/>
                </a:solidFill>
                <a:latin typeface="Arial"/>
              </a:defRPr>
            </a:pPr>
            <a:r>
              <a:t>Sin imputación ni borrado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057400"/>
            <a:ext cx="2011680" cy="98755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78240" y="2057400"/>
            <a:ext cx="82296" cy="987552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79408" y="2176272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t>COLISIONES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2441448"/>
            <a:ext cx="1691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31 grupos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2770632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F5F5F"/>
                </a:solidFill>
                <a:latin typeface="Arial"/>
              </a:defRPr>
            </a:pPr>
            <a:r>
              <a:t>62 filas conservadas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218688"/>
            <a:ext cx="2011680" cy="98755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3218688"/>
            <a:ext cx="82296" cy="987552"/>
          </a:xfrm>
          <a:prstGeom prst="rect">
            <a:avLst/>
          </a:prstGeom>
          <a:solidFill>
            <a:srgbClr val="2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84848" y="333756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t>MOJIBAKE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3602736"/>
            <a:ext cx="1691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57 estaciones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393192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F5F5F"/>
                </a:solidFill>
                <a:latin typeface="Arial"/>
              </a:defRPr>
            </a:pPr>
            <a:r>
              <a:t>12 variantes de línea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3218688"/>
            <a:ext cx="2011680" cy="987552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78240" y="3218688"/>
            <a:ext cx="82296" cy="987552"/>
          </a:xfrm>
          <a:prstGeom prst="rect">
            <a:avLst/>
          </a:prstGeom>
          <a:solidFill>
            <a:srgbClr val="4D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79408" y="3337560"/>
            <a:ext cx="1691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t>OUTLIERS IQR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9408" y="3602736"/>
            <a:ext cx="1691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66,361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3931920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F5F5F"/>
                </a:solidFill>
                <a:latin typeface="Arial"/>
              </a:defRPr>
            </a:pPr>
            <a:r>
              <a:t>Simple · se conservan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5262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D79A7"/>
                </a:solidFill>
                <a:latin typeface="Arial"/>
              </a:defRPr>
            </a:pPr>
            <a:r>
              <a:t>Criterio de limpieza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828032"/>
            <a:ext cx="42062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91919"/>
                </a:solidFill>
                <a:latin typeface="Arial"/>
              </a:defRPr>
            </a:pPr>
            <a:r>
              <a:rPr dirty="0" err="1"/>
              <a:t>Detectar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anomalía</a:t>
            </a:r>
            <a:r>
              <a:rPr dirty="0"/>
              <a:t> no </a:t>
            </a:r>
            <a:r>
              <a:rPr dirty="0" err="1"/>
              <a:t>implica</a:t>
            </a:r>
            <a:r>
              <a:rPr dirty="0"/>
              <a:t> </a:t>
            </a:r>
            <a:r>
              <a:rPr dirty="0" err="1"/>
              <a:t>eliminarla</a:t>
            </a:r>
            <a:r>
              <a:rPr dirty="0"/>
              <a:t>. Ceros y outliers se </a:t>
            </a:r>
            <a:r>
              <a:rPr dirty="0" err="1"/>
              <a:t>conservan</a:t>
            </a:r>
            <a:r>
              <a:rPr dirty="0"/>
              <a:t> con </a:t>
            </a:r>
            <a:r>
              <a:rPr dirty="0" err="1"/>
              <a:t>banderas</a:t>
            </a:r>
            <a:r>
              <a:rPr dirty="0"/>
              <a:t>; CLEAN </a:t>
            </a:r>
            <a:r>
              <a:rPr dirty="0" err="1"/>
              <a:t>corrige</a:t>
            </a:r>
            <a:r>
              <a:rPr dirty="0"/>
              <a:t> </a:t>
            </a:r>
            <a:r>
              <a:rPr dirty="0" err="1"/>
              <a:t>representación</a:t>
            </a:r>
            <a:r>
              <a:rPr dirty="0"/>
              <a:t> y </a:t>
            </a:r>
            <a:r>
              <a:rPr dirty="0" err="1"/>
              <a:t>homologación</a:t>
            </a:r>
            <a:r>
              <a:rPr dirty="0"/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6254496"/>
            <a:ext cx="16916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5F5F"/>
                </a:solidFill>
                <a:latin typeface="Arial"/>
              </a:defRPr>
            </a:pPr>
            <a:r>
              <a:rPr dirty="0" err="1"/>
              <a:t>Minería</a:t>
            </a:r>
            <a:r>
              <a:rPr dirty="0"/>
              <a:t> de Datos · </a:t>
            </a:r>
            <a:r>
              <a:rPr lang="en-US" dirty="0"/>
              <a:t>2026-B</a:t>
            </a:r>
            <a:r>
              <a:rPr dirty="0"/>
              <a:t> ·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F6D856-9FFB-E466-0667-4C031358BF9C}"/>
              </a:ext>
            </a:extLst>
          </p:cNvPr>
          <p:cNvSpPr txBox="1"/>
          <p:nvPr/>
        </p:nvSpPr>
        <p:spPr>
          <a:xfrm>
            <a:off x="700635" y="4560054"/>
            <a:ext cx="1082243" cy="58766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RAW</a:t>
            </a:r>
          </a:p>
          <a:p>
            <a:r>
              <a:rPr lang="es-MX" sz="1600" dirty="0"/>
              <a:t>1,180,920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846236-4273-11B9-B68D-24E921FAC578}"/>
              </a:ext>
            </a:extLst>
          </p:cNvPr>
          <p:cNvSpPr txBox="1"/>
          <p:nvPr/>
        </p:nvSpPr>
        <p:spPr>
          <a:xfrm>
            <a:off x="2415337" y="4560054"/>
            <a:ext cx="1082243" cy="58766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CLEAN</a:t>
            </a:r>
          </a:p>
          <a:p>
            <a:r>
              <a:rPr lang="es-MX" sz="1600" dirty="0"/>
              <a:t>1,180,920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1068843-8A4B-2531-E50C-283EAB46A2E0}"/>
              </a:ext>
            </a:extLst>
          </p:cNvPr>
          <p:cNvSpPr/>
          <p:nvPr/>
        </p:nvSpPr>
        <p:spPr>
          <a:xfrm>
            <a:off x="1782878" y="4705716"/>
            <a:ext cx="575462" cy="296344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8D894FC5-F8FC-0820-31BB-A8840BACA5B6}"/>
              </a:ext>
            </a:extLst>
          </p:cNvPr>
          <p:cNvSpPr/>
          <p:nvPr/>
        </p:nvSpPr>
        <p:spPr>
          <a:xfrm>
            <a:off x="3522219" y="4705716"/>
            <a:ext cx="575462" cy="296344"/>
          </a:xfrm>
          <a:prstGeom prst="rightArrow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71A659F-DA30-EB82-7C9C-A771348D3F10}"/>
              </a:ext>
            </a:extLst>
          </p:cNvPr>
          <p:cNvSpPr txBox="1"/>
          <p:nvPr/>
        </p:nvSpPr>
        <p:spPr>
          <a:xfrm>
            <a:off x="4097681" y="4560054"/>
            <a:ext cx="1215999" cy="58477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MX" sz="1600" dirty="0"/>
              <a:t>ANÁLISIS</a:t>
            </a:r>
          </a:p>
          <a:p>
            <a:r>
              <a:rPr lang="es-MX" sz="1600" dirty="0"/>
              <a:t>1,180,858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3E95DA1-A677-CB2A-CD25-DFBE18C87D9D}"/>
              </a:ext>
            </a:extLst>
          </p:cNvPr>
          <p:cNvSpPr txBox="1"/>
          <p:nvPr/>
        </p:nvSpPr>
        <p:spPr>
          <a:xfrm>
            <a:off x="3911385" y="5234380"/>
            <a:ext cx="15885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Aquí se hace el filtro analítico de 62 filas</a:t>
            </a:r>
          </a:p>
        </p:txBody>
      </p:sp>
    </p:spTree>
    <p:extLst>
      <p:ext uri="{BB962C8B-B14F-4D97-AF65-F5344CB8AC3E}">
        <p14:creationId xmlns:p14="http://schemas.microsoft.com/office/powerpoint/2010/main" val="2580510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002DF5-C7AA-037A-E7A3-86410AF16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solidFill>
                  <a:srgbClr val="191919"/>
                </a:solidFill>
                <a:latin typeface="Arial"/>
              </a:defRPr>
            </a:pPr>
            <a:r>
              <a:t>HALLAZGOS PRELIMINARES</a:t>
            </a:r>
          </a:p>
        </p:txBody>
      </p:sp>
      <p:pic>
        <p:nvPicPr>
          <p:cNvPr id="4" name="Picture 3" descr="p10_img1_xref7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402427"/>
            <a:ext cx="5363742" cy="2136301"/>
          </a:xfrm>
          <a:prstGeom prst="rect">
            <a:avLst/>
          </a:prstGeom>
        </p:spPr>
      </p:pic>
      <p:pic>
        <p:nvPicPr>
          <p:cNvPr id="5" name="Picture 4" descr="p11_img1_xref71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432164"/>
            <a:ext cx="3794760" cy="25539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90640" y="1376172"/>
            <a:ext cx="315468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390640" y="1376172"/>
            <a:ext cx="82296" cy="841248"/>
          </a:xfrm>
          <a:prstGeom prst="rect">
            <a:avLst/>
          </a:prstGeom>
          <a:solidFill>
            <a:srgbClr val="4D7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91808" y="1495044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t>DEMANDA POR LÍNEA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808" y="1760220"/>
            <a:ext cx="2834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217.0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808" y="2089404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F5F5F"/>
                </a:solidFill>
                <a:latin typeface="Arial"/>
              </a:defRPr>
            </a:pPr>
            <a:r>
              <a:t>Línea 2 · mayor afluencia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2152" y="3657600"/>
            <a:ext cx="226568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72152" y="3657600"/>
            <a:ext cx="82296" cy="841248"/>
          </a:xfrm>
          <a:prstGeom prst="rect">
            <a:avLst/>
          </a:prstGeom>
          <a:solidFill>
            <a:srgbClr val="20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3320" y="3693683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rPr dirty="0"/>
              <a:t>EVOLUCIÓN 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8068" y="3896895"/>
            <a:ext cx="2834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rPr dirty="0"/>
              <a:t>794.3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3320" y="4186894"/>
            <a:ext cx="1417320" cy="3598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5F5F5F"/>
                </a:solidFill>
                <a:latin typeface="Arial"/>
              </a:defRPr>
            </a:pPr>
            <a:r>
              <a:rPr lang="es-MX" sz="869" dirty="0">
                <a:solidFill>
                  <a:srgbClr val="5F5F5F"/>
                </a:solidFill>
                <a:latin typeface="Arial"/>
              </a:rPr>
              <a:t>mínimo anual en 2021; recuperación posterior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390640" y="2427732"/>
            <a:ext cx="255016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90640" y="2427732"/>
            <a:ext cx="82296" cy="841248"/>
          </a:xfrm>
          <a:prstGeom prst="rect">
            <a:avLst/>
          </a:prstGeom>
          <a:solidFill>
            <a:srgbClr val="3A91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91808" y="2546604"/>
            <a:ext cx="2834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t>TIPO DE ACCESO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91808" y="2811780"/>
            <a:ext cx="283464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t>81.44 %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91808" y="3140964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69" b="0">
                <a:solidFill>
                  <a:srgbClr val="5F5F5F"/>
                </a:solidFill>
                <a:latin typeface="Arial"/>
              </a:defRPr>
            </a:pPr>
            <a:r>
              <a:t>Prepago en el recurso desglosado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6254496"/>
            <a:ext cx="16916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5F5F"/>
                </a:solidFill>
                <a:latin typeface="Arial"/>
              </a:defRPr>
            </a:pPr>
            <a:r>
              <a:rPr dirty="0" err="1"/>
              <a:t>Minería</a:t>
            </a:r>
            <a:r>
              <a:rPr dirty="0"/>
              <a:t> de Datos · </a:t>
            </a:r>
            <a:r>
              <a:rPr lang="en-US" dirty="0"/>
              <a:t>2026-B</a:t>
            </a:r>
            <a:r>
              <a:rPr dirty="0"/>
              <a:t> · 6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8EB26F2-1D74-920A-D4C4-0A0FC8103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830" y="3429001"/>
            <a:ext cx="3813654" cy="2553992"/>
          </a:xfrm>
          <a:prstGeom prst="rect">
            <a:avLst/>
          </a:prstGeom>
        </p:spPr>
      </p:pic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0109A133-5597-8242-5AF8-A85A51041EA7}"/>
              </a:ext>
            </a:extLst>
          </p:cNvPr>
          <p:cNvSpPr/>
          <p:nvPr/>
        </p:nvSpPr>
        <p:spPr>
          <a:xfrm>
            <a:off x="5173980" y="4847378"/>
            <a:ext cx="2094230" cy="914400"/>
          </a:xfrm>
          <a:prstGeom prst="roundRect">
            <a:avLst/>
          </a:prstGeom>
          <a:solidFill>
            <a:srgbClr val="F3F6F8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A7B59B1-35E8-4812-8E3D-01CB4985DA61}"/>
              </a:ext>
            </a:extLst>
          </p:cNvPr>
          <p:cNvSpPr/>
          <p:nvPr/>
        </p:nvSpPr>
        <p:spPr>
          <a:xfrm>
            <a:off x="7201452" y="4883954"/>
            <a:ext cx="82296" cy="8412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E0B6548-777D-C1E6-2C7C-324F2E3E57EA}"/>
              </a:ext>
            </a:extLst>
          </p:cNvPr>
          <p:cNvSpPr txBox="1"/>
          <p:nvPr/>
        </p:nvSpPr>
        <p:spPr>
          <a:xfrm>
            <a:off x="5380516" y="4847378"/>
            <a:ext cx="2834640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5F5F5F"/>
                </a:solidFill>
                <a:latin typeface="Arial"/>
              </a:defRPr>
            </a:pPr>
            <a:r>
              <a:rPr dirty="0"/>
              <a:t>EVOLUCIÓN </a:t>
            </a:r>
            <a:r>
              <a:rPr lang="es-MX" dirty="0"/>
              <a:t>MENSUAL</a:t>
            </a:r>
            <a:endParaRPr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5A6DE7-010A-A3C5-0D8D-451B210A4ABC}"/>
              </a:ext>
            </a:extLst>
          </p:cNvPr>
          <p:cNvSpPr txBox="1"/>
          <p:nvPr/>
        </p:nvSpPr>
        <p:spPr>
          <a:xfrm>
            <a:off x="6014510" y="5055265"/>
            <a:ext cx="2834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/>
              </a:defRPr>
            </a:pPr>
            <a:r>
              <a:rPr lang="es-MX" dirty="0"/>
              <a:t>35.9</a:t>
            </a:r>
            <a:r>
              <a:rPr dirty="0"/>
              <a:t> 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D39EB6-3545-EA50-30CB-B00B56810BAF}"/>
              </a:ext>
            </a:extLst>
          </p:cNvPr>
          <p:cNvSpPr txBox="1"/>
          <p:nvPr/>
        </p:nvSpPr>
        <p:spPr>
          <a:xfrm>
            <a:off x="5311140" y="5359482"/>
            <a:ext cx="1874774" cy="3598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869" b="0">
                <a:solidFill>
                  <a:srgbClr val="5F5F5F"/>
                </a:solidFill>
                <a:latin typeface="Arial"/>
              </a:defRPr>
            </a:pPr>
            <a:r>
              <a:rPr dirty="0"/>
              <a:t>M</a:t>
            </a:r>
            <a:r>
              <a:rPr lang="es-MX" dirty="0" err="1"/>
              <a:t>ínimo</a:t>
            </a:r>
            <a:r>
              <a:rPr dirty="0"/>
              <a:t> </a:t>
            </a:r>
            <a:r>
              <a:rPr lang="es-MX" dirty="0"/>
              <a:t>mensual · mayo </a:t>
            </a:r>
            <a:r>
              <a:rPr dirty="0"/>
              <a:t>20</a:t>
            </a:r>
            <a:r>
              <a:rPr lang="es-MX" dirty="0"/>
              <a:t>20;</a:t>
            </a:r>
            <a:r>
              <a:rPr dirty="0"/>
              <a:t> </a:t>
            </a:r>
            <a:r>
              <a:rPr lang="es-MX" dirty="0"/>
              <a:t>recuperación posterior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537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C7DF3-B6E0-1214-2801-5AB86DD52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0">
                <a:solidFill>
                  <a:srgbClr val="191919"/>
                </a:solidFill>
                <a:latin typeface="Arial"/>
              </a:defRPr>
            </a:pPr>
            <a:r>
              <a:t>CONCLUSIONES Y SIGUIENTES PASOS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D79A7"/>
                </a:solidFill>
                <a:latin typeface="Arial"/>
              </a:defRPr>
            </a:pPr>
            <a:r>
              <a:rPr dirty="0" err="1"/>
              <a:t>Factibilidad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Los dos recursos cumplen volumen, cobertura y trazabilidad.</a:t>
            </a:r>
          </a:p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El flujo RAW → auditoría → CLEAN → Tableau es reproducible.</a:t>
            </a:r>
          </a:p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La propuesta es técnica y analíticamente viable para el semestre.</a:t>
            </a:r>
          </a:p>
          <a:p>
            <a:pPr>
              <a:spcAft>
                <a:spcPts val="700"/>
              </a:spcAft>
              <a:defRPr sz="1350">
                <a:solidFill>
                  <a:srgbClr val="191919"/>
                </a:solidFill>
                <a:latin typeface="Arial"/>
              </a:defRPr>
            </a:pPr>
            <a:r>
              <a:t>• Los hallazgos actuales son descriptivos; no se infiere causalidad.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0574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209691"/>
                </a:solidFill>
                <a:latin typeface="Arial"/>
              </a:defRPr>
            </a:pPr>
            <a:r>
              <a:t>Siguientes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2423160"/>
            <a:ext cx="4716780" cy="1941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Integrar</a:t>
            </a:r>
            <a:r>
              <a:rPr dirty="0"/>
              <a:t> </a:t>
            </a:r>
            <a:r>
              <a:rPr dirty="0" err="1"/>
              <a:t>Metrobús</a:t>
            </a:r>
            <a:r>
              <a:rPr dirty="0"/>
              <a:t>, RTP y </a:t>
            </a:r>
            <a:r>
              <a:rPr dirty="0" err="1"/>
              <a:t>Transportes</a:t>
            </a:r>
            <a:r>
              <a:rPr dirty="0"/>
              <a:t> </a:t>
            </a:r>
            <a:r>
              <a:rPr dirty="0" err="1"/>
              <a:t>Eléctricos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Definir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ventana</a:t>
            </a:r>
            <a:r>
              <a:rPr dirty="0"/>
              <a:t> temporal y </a:t>
            </a:r>
            <a:r>
              <a:rPr dirty="0" err="1"/>
              <a:t>granularidad</a:t>
            </a:r>
            <a:r>
              <a:rPr dirty="0"/>
              <a:t> </a:t>
            </a:r>
            <a:r>
              <a:rPr dirty="0" err="1"/>
              <a:t>común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Construir</a:t>
            </a:r>
            <a:r>
              <a:rPr dirty="0"/>
              <a:t> </a:t>
            </a:r>
            <a:r>
              <a:rPr dirty="0" err="1"/>
              <a:t>modelo</a:t>
            </a:r>
            <a:r>
              <a:rPr dirty="0"/>
              <a:t> dimensional y </a:t>
            </a:r>
            <a:r>
              <a:rPr dirty="0" err="1"/>
              <a:t>consultas</a:t>
            </a:r>
            <a:r>
              <a:rPr dirty="0"/>
              <a:t> OLAP.</a:t>
            </a:r>
          </a:p>
          <a:p>
            <a:pPr>
              <a:spcAft>
                <a:spcPts val="7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</a:t>
            </a:r>
            <a:r>
              <a:rPr dirty="0" err="1"/>
              <a:t>estadísticas</a:t>
            </a:r>
            <a:r>
              <a:rPr dirty="0"/>
              <a:t>, </a:t>
            </a:r>
            <a:r>
              <a:rPr dirty="0" err="1"/>
              <a:t>árboles</a:t>
            </a:r>
            <a:r>
              <a:rPr dirty="0"/>
              <a:t> y redes </a:t>
            </a:r>
            <a:r>
              <a:rPr dirty="0" err="1"/>
              <a:t>neuronales</a:t>
            </a:r>
            <a:r>
              <a:rPr dirty="0"/>
              <a:t>.</a:t>
            </a:r>
          </a:p>
          <a:p>
            <a:pPr>
              <a:spcAft>
                <a:spcPts val="7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desempeño</a:t>
            </a:r>
            <a:r>
              <a:rPr dirty="0"/>
              <a:t>, </a:t>
            </a:r>
            <a:r>
              <a:rPr dirty="0" err="1"/>
              <a:t>interpretabilidad</a:t>
            </a:r>
            <a:r>
              <a:rPr dirty="0"/>
              <a:t> y </a:t>
            </a:r>
            <a:r>
              <a:rPr dirty="0" err="1"/>
              <a:t>entregables</a:t>
            </a:r>
            <a:r>
              <a:rPr dirty="0"/>
              <a:t> finales.</a:t>
            </a:r>
            <a:endParaRPr lang="es-MX" dirty="0"/>
          </a:p>
          <a:p>
            <a:pPr>
              <a:spcAft>
                <a:spcPts val="700"/>
              </a:spcAft>
              <a:defRPr sz="1300">
                <a:solidFill>
                  <a:srgbClr val="191919"/>
                </a:solidFill>
                <a:latin typeface="Arial"/>
              </a:defRPr>
            </a:pPr>
            <a:r>
              <a:rPr lang="es-MX" dirty="0"/>
              <a:t>• </a:t>
            </a:r>
            <a:r>
              <a:rPr lang="es-MX" sz="1300" dirty="0">
                <a:solidFill>
                  <a:srgbClr val="191919"/>
                </a:solidFill>
                <a:latin typeface="Arial"/>
              </a:rPr>
              <a:t>Evaluar integración poblacional: estación → alcaldía/AGEB → población y densidad.</a:t>
            </a:r>
            <a:endParaRPr lang="es-MX" dirty="0"/>
          </a:p>
        </p:txBody>
      </p:sp>
      <p:sp>
        <p:nvSpPr>
          <p:cNvPr id="10" name="TextBox 9"/>
          <p:cNvSpPr txBox="1"/>
          <p:nvPr/>
        </p:nvSpPr>
        <p:spPr>
          <a:xfrm>
            <a:off x="9738360" y="6254496"/>
            <a:ext cx="169164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50" b="0">
                <a:solidFill>
                  <a:srgbClr val="5F5F5F"/>
                </a:solidFill>
                <a:latin typeface="Arial"/>
              </a:defRPr>
            </a:pPr>
            <a:r>
              <a:rPr dirty="0" err="1"/>
              <a:t>Minería</a:t>
            </a:r>
            <a:r>
              <a:rPr dirty="0"/>
              <a:t> de Datos · </a:t>
            </a:r>
            <a:r>
              <a:rPr lang="en-US" dirty="0"/>
              <a:t>2026-B</a:t>
            </a:r>
            <a:r>
              <a:rPr dirty="0"/>
              <a:t> · 7</a:t>
            </a:r>
          </a:p>
        </p:txBody>
      </p:sp>
    </p:spTree>
    <p:extLst>
      <p:ext uri="{BB962C8B-B14F-4D97-AF65-F5344CB8AC3E}">
        <p14:creationId xmlns:p14="http://schemas.microsoft.com/office/powerpoint/2010/main" val="248004142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C1E39407E5074BA887679B4EA355CA" ma:contentTypeVersion="17" ma:contentTypeDescription="Create a new document." ma:contentTypeScope="" ma:versionID="d8701eb0450a2944865573bdf0bfb2e1">
  <xsd:schema xmlns:xsd="http://www.w3.org/2001/XMLSchema" xmlns:xs="http://www.w3.org/2001/XMLSchema" xmlns:p="http://schemas.microsoft.com/office/2006/metadata/properties" xmlns:ns3="1f7ade23-18de-4ca9-9575-a8ea4bdd0343" xmlns:ns4="124f25a0-9013-42ac-9e87-c8dd332874db" targetNamespace="http://schemas.microsoft.com/office/2006/metadata/properties" ma:root="true" ma:fieldsID="aa02c3239eb34c0aeda5d32c6e131700" ns3:_="" ns4:_="">
    <xsd:import namespace="1f7ade23-18de-4ca9-9575-a8ea4bdd0343"/>
    <xsd:import namespace="124f25a0-9013-42ac-9e87-c8dd332874d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ade23-18de-4ca9-9575-a8ea4bdd03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4f25a0-9013-42ac-9e87-c8dd332874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f7ade23-18de-4ca9-9575-a8ea4bdd034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78A55E-846E-4510-A49C-E21FAACF11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7ade23-18de-4ca9-9575-a8ea4bdd0343"/>
    <ds:schemaRef ds:uri="124f25a0-9013-42ac-9e87-c8dd332874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4CF7AC-0B38-4BE2-A146-FA8C3F8DA123}">
  <ds:schemaRefs>
    <ds:schemaRef ds:uri="http://www.w3.org/XML/1998/namespace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124f25a0-9013-42ac-9e87-c8dd332874db"/>
    <ds:schemaRef ds:uri="http://purl.org/dc/dcmitype/"/>
    <ds:schemaRef ds:uri="http://purl.org/dc/elements/1.1/"/>
    <ds:schemaRef ds:uri="1f7ade23-18de-4ca9-9575-a8ea4bdd0343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10C31D7-42AC-44C2-B09A-3A2EF59563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638</Words>
  <Application>Microsoft Office PowerPoint</Application>
  <PresentationFormat>Widescreen</PresentationFormat>
  <Paragraphs>102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Calisto MT</vt:lpstr>
      <vt:lpstr>Univers Condensed</vt:lpstr>
      <vt:lpstr>ChronicleVTI</vt:lpstr>
      <vt:lpstr>INTELIGENCIA DE DEMANDA DE los principales sistemas de TRANSPORTE PÚBLICO DE LA CDMX  Práctica 1 · Definición del proyecto semestral</vt:lpstr>
      <vt:lpstr>CRISP-DM 1 · COMPRENSIÓN DEL PROBLEMA Planteamiento, pregunta de minería e hipótesis</vt:lpstr>
      <vt:lpstr>OBJETIVOS Y ALCANCE</vt:lpstr>
      <vt:lpstr>CRISP-DM 2 · COMPRENSIÓN DE LOS DATOS</vt:lpstr>
      <vt:lpstr>CALIDAD Y PREPROCESAMIENTO</vt:lpstr>
      <vt:lpstr>HALLAZGOS PRELIMINARES</vt:lpstr>
      <vt:lpstr>CONCLUSIONES Y SIGUIENTES PASOS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Roberto Eswart Zagal Flores</dc:creator>
  <cp:lastModifiedBy>Yariel Navarrete</cp:lastModifiedBy>
  <cp:revision>6</cp:revision>
  <dcterms:created xsi:type="dcterms:W3CDTF">2026-03-17T18:10:35Z</dcterms:created>
  <dcterms:modified xsi:type="dcterms:W3CDTF">2026-09-24T04:41:47Z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0x0101008BC1E39407E5074BA887679B4EA355CA</vt:lpwstr>
  </property>
</Properties>
</file>